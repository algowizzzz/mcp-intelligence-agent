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Worker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Workforce — 18 Workers across 7 Business Divisions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2468880" cy="1280160"/>
          </a:xfrm>
          <a:prstGeom prst="rect">
            <a:avLst/>
          </a:prstGeom>
          <a:solidFill>
            <a:srgbClr val="243758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Workers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931920"/>
            <a:ext cx="2468880" cy="1280160"/>
          </a:xfrm>
          <a:prstGeom prst="rect">
            <a:avLst/>
          </a:prstGeom>
          <a:solidFill>
            <a:srgbClr val="243758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Divisions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2468880" cy="1280160"/>
          </a:xfrm>
          <a:prstGeom prst="rect">
            <a:avLst/>
          </a:prstGeom>
          <a:solidFill>
            <a:srgbClr val="243758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Documents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0" y="3931920"/>
            <a:ext cx="2468880" cy="1280160"/>
          </a:xfrm>
          <a:prstGeom prst="rect">
            <a:avLst/>
          </a:prstGeom>
          <a:solidFill>
            <a:srgbClr val="243758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CA+US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Jurisdiction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4572000" cy="0"/>
          </a:xfrm>
          <a:prstGeom prst="line">
            <a:avLst/>
          </a:prstGeom>
          <a:noFill/>
          <a:ln w="9525">
            <a:solidFill>
              <a:srgbClr val="30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870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Chief Financial Officer &amp; Chief Risk Officer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North American Bank  |  Confidential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41480" y="0"/>
            <a:ext cx="320040" cy="97971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41480" y="979714"/>
            <a:ext cx="320040" cy="97971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41480" y="1959429"/>
            <a:ext cx="320040" cy="97971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41480" y="2939143"/>
            <a:ext cx="320040" cy="97971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41480" y="3918857"/>
            <a:ext cx="320040" cy="979714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41480" y="4898571"/>
            <a:ext cx="320040" cy="97971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41480" y="5878286"/>
            <a:ext cx="320040" cy="97971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—  Enterprise AI Workforce Organisation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AI Digital Workers  |  7 Business Divisions  |  Top 10 North American Bank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34840" y="868680"/>
            <a:ext cx="3291840" cy="475488"/>
          </a:xfrm>
          <a:prstGeom prst="rect">
            <a:avLst/>
          </a:prstGeom>
          <a:solidFill>
            <a:srgbClr val="24375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8686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34416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504188"/>
            <a:ext cx="10296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8712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4736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6784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12808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28832" y="1504188"/>
            <a:ext cx="0" cy="1600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64208"/>
            <a:ext cx="1353312" cy="51206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32688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377440"/>
            <a:ext cx="54864" cy="51206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Analyst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29184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W-01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932688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035808"/>
            <a:ext cx="54864" cy="51206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&amp;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7472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Validation Analyst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29184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W-12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932688" y="3547872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694176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694176"/>
            <a:ext cx="54864" cy="51206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739896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7472" y="3941064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29184" y="4023360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W-13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972056" y="1664208"/>
            <a:ext cx="1353312" cy="5120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72056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48712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72056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972056" y="2377440"/>
            <a:ext cx="54864" cy="5120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63496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063496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Analyst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045208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W-15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648712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72056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972056" y="3035808"/>
            <a:ext cx="54864" cy="5120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63496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063496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Analyst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045208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W-18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688080" y="1664208"/>
            <a:ext cx="1353312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88080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64736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88080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88080" y="2377440"/>
            <a:ext cx="54864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79520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779520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Reporting Analyst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761232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W-04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364736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88080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88080" y="3035808"/>
            <a:ext cx="54864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79520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Markets Risk Analyst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779520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(Rates / FX / Credit)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761232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W-10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364736" y="3547872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88080" y="3694176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88080" y="3694176"/>
            <a:ext cx="54864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79520" y="3739896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&amp;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779520" y="3941064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Risk Analyst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761232" y="4023360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W-11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5404104" y="1664208"/>
            <a:ext cx="1353312" cy="5120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404104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080760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04104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404104" y="2377440"/>
            <a:ext cx="54864" cy="5120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95544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495544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Risk Officer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5477256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W-08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080760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04104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404104" y="3035808"/>
            <a:ext cx="54864" cy="5120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95544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Planning &amp;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495544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Analyst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477256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W-09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6080760" y="3547872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04104" y="3694176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404104" y="3694176"/>
            <a:ext cx="54864" cy="5120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95544" y="3739896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Regulatory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495544" y="3941064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Analyst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5477256" y="4023360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W-16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7120128" y="1664208"/>
            <a:ext cx="1353312" cy="512064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120128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796784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20128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120128" y="2377440"/>
            <a:ext cx="54864" cy="512064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11568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Credit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7211568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Officer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7193280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W-07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7796784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20128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120128" y="3035808"/>
            <a:ext cx="54864" cy="512064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11568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211568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Analyst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7193280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W-05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8836152" y="1664208"/>
            <a:ext cx="1353312" cy="5120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8836152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512808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836152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836152" y="2377440"/>
            <a:ext cx="54864" cy="5120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927592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Risk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927592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8909304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W-06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9512808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36152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8836152" y="3035808"/>
            <a:ext cx="54864" cy="5120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927592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Portfolio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8927592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Analyst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8909304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W-17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10552176" y="1664208"/>
            <a:ext cx="1353312" cy="5120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10552176" y="1664208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1228832" y="2176272"/>
            <a:ext cx="0" cy="20116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552176" y="2377440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10552176" y="2377440"/>
            <a:ext cx="54864" cy="5120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643616" y="242316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Hunt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10643616" y="262432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10625328" y="2706624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W-02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11228832" y="2889504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552176" y="3035808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10552176" y="3035808"/>
            <a:ext cx="54864" cy="5120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643616" y="308152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RLP Policy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10643616" y="3282696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Analyst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625328" y="3364992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W-03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11228832" y="3547872"/>
            <a:ext cx="0" cy="146304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552176" y="3694176"/>
            <a:ext cx="1353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10552176" y="3694176"/>
            <a:ext cx="54864" cy="5120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643616" y="3739896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0643616" y="3941064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Analyst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10625328" y="4023360"/>
            <a:ext cx="12161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W-14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256032" y="6492240"/>
            <a:ext cx="11649456" cy="274320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Enterprise Risk     ■ Internal Audit     ■ Capital Markets     ■ Finance &amp; Treasury     ■ Commercial Banking     ■ Wealth Management     ■ Legal Risk &amp; Compliance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Enterprise Risk Management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Analyst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RCSA &amp; control testing specialist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design &amp; operational effectiveness assessment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 identification &amp; gap analysis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findings with remediation actions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mapping across risk categories &amp; RCSA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6720" y="1188720"/>
            <a:ext cx="73152" cy="539496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1960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Validation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960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 validation (SR 11-7 / OSFI E-23)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0131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960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3788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reports covering conceptual soundness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PD, LGD &amp; IFRS 9 backtesting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inventory management &amp; tiered risk ratings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&amp; OCC supervisory review preparation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340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3400" y="1188720"/>
            <a:ext cx="73152" cy="539496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3628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628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credit intelligence for CRO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1799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628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5456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Stage 1/2/3 migration attribution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&amp; large exposure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migration, watchlist &amp; early warning signals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ICAAP credit stress testing inputs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Enterprise Risk Management  |  Confidential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Internal Audit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Analyst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findings, evidence &amp; remediation tracking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findings &amp; control test reporting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tracking &amp; management action escalation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thematic reports across risk domains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exam evidence package preparation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506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5060" y="1188720"/>
            <a:ext cx="73152" cy="53949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W-18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7794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794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monitoring &amp; exception detection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965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794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39622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monitoring &amp; KRI surveillance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reporting for high-risk process areas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audit plan signal generation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progress tracking &amp; control health scoring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Internal Audit  |  Confidential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Capital Markets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Reporting Analyst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market risk &amp; breach reporting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breach analysis &amp; narrative reporting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trade root cause analysis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deep-dive with news enrichment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audit report production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6720" y="1188720"/>
            <a:ext cx="73152" cy="5394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1960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Markets Risk Analyst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(Rates / FX / Credit)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960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Desk-level VaR, Greeks &amp; P&amp;L attribution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0131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960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3788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monitoring &amp; DV01 / CS01 exposure tracking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P&amp;L attribution by risk factor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breach narratives for desk heads &amp; risk managers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IMA desk qualification &amp; P&amp;L attribution testing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340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3400" y="1188720"/>
            <a:ext cx="73152" cy="5394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3628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Risk Analyst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628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CVA/DVA/FVA &amp; counterparty credit risk (SA-CCR)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1799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628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5456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CVA, DVA, FVA, MVA calculation &amp;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SA-CCR regulatory capital on OTC derivatives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 IM validation under BCBS-IOSCO margin rules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Wrong-way risk &amp; PFE profile monitoring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Capital Markets  |  Confidential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TREASURY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Finance &amp; Treasury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W-08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Risk Officer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IRRBB, liquidity stress &amp; balance sheet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 &amp; EVE sensitivity under rate shock scenarios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/ NSFR daily position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curve review &amp; ALCO scenario analysis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Stability Buffer &amp; liquidity stress reporting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6720" y="1188720"/>
            <a:ext cx="73152" cy="53949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W-09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1960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Planning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960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ICAAP, DFAST/CCAR &amp; Basel IV impact quantification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0131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960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3788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attribution by risk type &amp; business line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DFAST / CCAR scenario capital projections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IV / FRTB standardised vs IMA impact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planning memos for CFO &amp; 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340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3400" y="1188720"/>
            <a:ext cx="73152" cy="53949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3628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Regulatory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Analyst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628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returns, US call reports &amp; Pillar 3 disclosures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1799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628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5456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regulatory return preparation &amp; validation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FFIEC call report filing management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capital disclosure report production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calendar &amp; deadline tracking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Finance &amp; Treasury  |  Confidential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Commercial Banking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Credit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Officer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adjudication, portfolio monitoring &amp; provisioning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financial analysis &amp; credit memo production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DSCR, leverage, ICR &amp; covenant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credit rating &amp; watchlist management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/ CECL provisioning &amp; impairment support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506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5060" y="1188720"/>
            <a:ext cx="73152" cy="5394960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7794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794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appraisal review &amp; loan supportability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965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794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39622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extraction from appraisal PDFs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rate, NOI &amp; LTV validation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loan supportability assessment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/ legal review flag identification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Commercial Banking  |  Confidential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Wealth Management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Suitability, fiduciary &amp; conduct compliance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suitability vs IPS &amp; risk profile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at security / sector / issuer level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 / OSC / SEC conduct compliance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&amp; UHNW risk-based account review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5060" y="1188720"/>
            <a:ext cx="56464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5060" y="1188720"/>
            <a:ext cx="73152" cy="5394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965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W-17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77940" y="1591056"/>
            <a:ext cx="53721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Portfolio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7940" y="2267712"/>
            <a:ext cx="53721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attribution &amp; scenario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9652" y="2651760"/>
            <a:ext cx="53263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7940" y="2724912"/>
            <a:ext cx="5372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396228" y="2962656"/>
            <a:ext cx="53263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 &amp; Information Ratio by client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deviation &amp; SAA drift reporting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Client-level macro shock scenario impact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impact on net returns &amp; suitability overlay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Wealth Management  |  Confidential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RISK &amp; COMPLIANCE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274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 →  Legal, Risk &amp; Compliance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5394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Hunt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intake, MUST statements &amp; jurisdiction triage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statement identification vs. procedural language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Jurisdictional scope determination (federal / provincial / US)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classification &amp; downstream routing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flag &amp; missing mandatory section identification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6720" y="1188720"/>
            <a:ext cx="73152" cy="5394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131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W-03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1960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RLP Policy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Analyst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960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policy hierarchy &amp; governance standards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0131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960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3788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Standard / Framework / Procedure classification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checklist validation per document type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owner, version history, exemptions &amp; escalation review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instrument traceability maintenance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3400" y="1188720"/>
            <a:ext cx="36880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3400" y="1188720"/>
            <a:ext cx="73152" cy="5394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799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W-14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36280" y="1591056"/>
            <a:ext cx="3413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Analyst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6280" y="2267712"/>
            <a:ext cx="3413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surveillance, AML typologies &amp; exam prep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17992" y="2651760"/>
            <a:ext cx="3368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6280" y="2724912"/>
            <a:ext cx="341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54568" y="2962656"/>
            <a:ext cx="3368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surveillance &amp; market conduct monitoring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typology analysis — FINTRAC / FinCEN alignment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sanctions screening &amp; escalation packages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exam preparation (OSFI / OCC / SEC / FINRA)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8EDF2"/>
          </a:solidFill>
          <a:ln w="6350">
            <a:solidFill>
              <a:srgbClr val="D1D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Digital Worker Platform  |  Legal, Risk &amp; Compliance  |  Confidential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RiskGPT Digital Worker Platform — Org Chart</dc:title>
  <dc:subject>PptxGenJS Presentation</dc:subject>
  <dc:creator>RiskGPT Platform</dc:creator>
  <cp:lastModifiedBy>RiskGPT Platform</cp:lastModifiedBy>
  <cp:revision>1</cp:revision>
  <dcterms:created xsi:type="dcterms:W3CDTF">2026-04-03T16:13:10Z</dcterms:created>
  <dcterms:modified xsi:type="dcterms:W3CDTF">2026-04-03T16:13:10Z</dcterms:modified>
</cp:coreProperties>
</file>